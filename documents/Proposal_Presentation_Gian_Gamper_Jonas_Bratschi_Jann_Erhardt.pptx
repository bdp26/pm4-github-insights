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38"/>
  </p:normalViewPr>
  <p:slideViewPr>
    <p:cSldViewPr snapToGrid="0">
      <p:cViewPr>
        <p:scale>
          <a:sx n="113" d="100"/>
          <a:sy n="113" d="100"/>
        </p:scale>
        <p:origin x="1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6" d="100"/>
          <a:sy n="106" d="100"/>
        </p:scale>
        <p:origin x="288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EB0537-87B5-AA6A-14AE-78CD4356ED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01769-852B-62AC-E63C-11EDB1EBFA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53CA5-27CA-3E4C-B0FF-C9EC7B03084B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B52A4-1E98-8DBC-D009-41F4F0D7A1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A54B8-9F89-BFAE-8FAC-1385143342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798B4-CAA9-8C4C-9711-4208D07F7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52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EF806-9F17-0240-A2CB-C874E7A0BE57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37F2D-323E-2F49-B819-84C515C1E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1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C25-ABEA-3C3F-C834-C270B0BE4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72A52-C3D1-8CF4-888C-B15590D7D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B6027-69C0-40A0-DC14-C36BF9D9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FC36-63EA-AFD2-945F-93C837AB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EAECF-D03A-6F9F-6101-83BEC4C6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4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FEC99-1817-CF08-D85C-4D807FEF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0F820-DADF-B554-95CB-790439CCC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7CFFF-E13D-F20F-425F-C5083808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BC56-05EC-E68A-CB0A-F4D22A2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D9662-6852-6E41-2B60-C2CACD13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0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96358-BE01-6811-3EAA-7D6C1F74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F4AFA-DB3F-76B1-4FBB-C6545A403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79E6C-395F-60ED-BE7C-708836EA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939E5-42C5-7CAA-6028-E4F4B4B0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0988-5504-62A8-F607-8AFD2D36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7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C815-C6C3-134C-9735-7DC5B327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A7BE5-20FB-93D7-C635-BFEBF644B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89B0E-E908-8E94-DBDA-AA8E93C9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FD05C-0482-6562-75FB-E36C7FCF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3C471-2F27-F171-C101-242D3380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D842D-E573-F780-9BE1-32A1224B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9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4977-AB82-DD1B-B198-76187BB6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701BF-BF29-22EB-BA0A-054A38A8F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891FE-AA9D-C2BF-436D-BBEAE9845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42B24F-CAF3-24FE-94C0-2AA9EFCF4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1E18F-1E10-1C5E-6E1D-EF0C60C7E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6A084-35DC-3876-EDFE-C1E69C53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63543-33E4-1916-0C90-B066563C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B1BE2-51B9-5048-774B-FBB713DD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77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A479-B750-E9E9-7284-CC81D067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38BD6-2F5D-4426-B7B9-0F977661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C7CB5-CF20-CC7C-362F-1B68BC7D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24520-EAA1-DADD-0511-4A18075BD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8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44900-CFAF-871D-7E2F-15007B67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17D83-355E-8C58-321E-ABB5642B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3842-FED0-32AB-FE69-2416D181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54F8-60AF-C982-503C-DFB2B3B31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0201-03C7-0F05-3BA3-83446460B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F5C0A-E972-53B8-3693-736F9BB78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06ADF-722B-05C2-9592-5609D689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F4511-37A1-20D4-AC1E-711B462C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BEE6F-1730-4E4A-8215-7204C7E41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1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266A-05EF-CCCB-5322-3673ABA7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67145-7366-9A24-3B1F-0B6A11110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BE83D-DC7E-132B-A3E4-876363A58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37E4B-9882-325D-E3F8-32EA9B2C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4AD06-7B2B-BD59-3DAF-BD73C96A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C795-6A2A-86D0-16FD-C1AEE9DB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02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B27F-77EB-6C56-BE05-DBE5638A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8AF92-759D-13E5-5F8F-D8CCED927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DCD2F-84EF-7203-0C42-42BFA0D8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2638F-1A9B-FBB2-4E44-603E77AA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5F50-983C-9320-D326-9708BB5D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07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82CD1-624B-8712-B72B-A31002E85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BE91B-B4EF-1538-538A-695BE6CC4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95CFD-267D-7966-ABF1-4AA3A6F4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F24FA-E9D4-1487-CE6D-0AB2847A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E9AF7-7820-E175-13BF-A7F25A05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2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8E16A-15B6-A736-EE99-A00B3C09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31AB3-AB6D-1A54-A7E7-141A3BD9E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B5AF6-0807-1930-E4CE-12CF1C0E2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E4BC6-68E2-8341-BBA1-F5FD0A33C1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0480E-36CB-191A-66F6-0C7817725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F92F4-2B40-40E2-62E3-AD7756DF2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B750E-A72A-D94A-A57C-B131052B7F1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6CD67-F46A-D060-E275-67E8DDF786B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388610" y="365125"/>
            <a:ext cx="1965190" cy="113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5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A600-4BA9-C6C9-6DF5-4E4DEF7D9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Data Project</a:t>
            </a:r>
            <a:br>
              <a:rPr lang="en-US" dirty="0"/>
            </a:br>
            <a:r>
              <a:rPr lang="en-US" b="1" dirty="0"/>
              <a:t>Research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02033-FE95-EF3D-C497-5F65A0BEA3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GitHub Innovation Portal</a:t>
            </a:r>
          </a:p>
          <a:p>
            <a:r>
              <a:rPr lang="en-US" dirty="0"/>
              <a:t>ZHAW School of Engineering, DS.PM4</a:t>
            </a:r>
          </a:p>
          <a:p>
            <a:r>
              <a:rPr lang="en-US" dirty="0"/>
              <a:t>Jann Erhardt | Gian Gamper | Jonas Bratschi</a:t>
            </a:r>
          </a:p>
        </p:txBody>
      </p:sp>
    </p:spTree>
    <p:extLst>
      <p:ext uri="{BB962C8B-B14F-4D97-AF65-F5344CB8AC3E}">
        <p14:creationId xmlns:p14="http://schemas.microsoft.com/office/powerpoint/2010/main" val="381843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666A-C6C4-18DD-0E32-4A502784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Kontext</a:t>
            </a:r>
            <a:r>
              <a:rPr lang="en-US" dirty="0"/>
              <a:t> &amp;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069A-0628-1D98-4EEB-3FCB17A03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 err="1"/>
              <a:t>Wachsende</a:t>
            </a:r>
            <a:r>
              <a:rPr lang="en-US" dirty="0"/>
              <a:t> </a:t>
            </a:r>
            <a:r>
              <a:rPr lang="en-US" dirty="0" err="1"/>
              <a:t>Anzahl</a:t>
            </a:r>
            <a:r>
              <a:rPr lang="en-US" dirty="0"/>
              <a:t> </a:t>
            </a:r>
            <a:r>
              <a:rPr lang="en-US" dirty="0" err="1"/>
              <a:t>Nutzer</a:t>
            </a:r>
            <a:r>
              <a:rPr lang="en-US" dirty="0"/>
              <a:t> und Repos</a:t>
            </a:r>
          </a:p>
          <a:p>
            <a:r>
              <a:rPr lang="en-US" dirty="0" err="1"/>
              <a:t>Welche</a:t>
            </a:r>
            <a:r>
              <a:rPr lang="en-US" dirty="0"/>
              <a:t> Projekte </a:t>
            </a:r>
            <a:r>
              <a:rPr lang="en-US" dirty="0" err="1"/>
              <a:t>sind</a:t>
            </a:r>
            <a:r>
              <a:rPr lang="en-US" dirty="0"/>
              <a:t> relevant</a:t>
            </a:r>
            <a:br>
              <a:rPr lang="en-US" dirty="0"/>
            </a:br>
            <a:r>
              <a:rPr lang="en-US" dirty="0"/>
              <a:t>Finden von hidden gems</a:t>
            </a:r>
          </a:p>
        </p:txBody>
      </p:sp>
      <p:pic>
        <p:nvPicPr>
          <p:cNvPr id="1026" name="Picture 2" descr="A line chart showing the number of new developers joining GitHub from 2020 to 2025. The line rises steadily, reaching 36.2 million in 2025, with a sharp increase after the launch of Copilot Free in late 2024. The chart has a dark background with blue data lines and the title ‘The number of new developers on GitHub.’">
            <a:extLst>
              <a:ext uri="{FF2B5EF4-FFF2-40B4-BE49-F238E27FC236}">
                <a16:creationId xmlns:a16="http://schemas.microsoft.com/office/drawing/2014/main" id="{72CE0565-826C-5221-9F30-0AC3A07BF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7" t="12331"/>
          <a:stretch>
            <a:fillRect/>
          </a:stretch>
        </p:blipFill>
        <p:spPr bwMode="auto">
          <a:xfrm>
            <a:off x="838200" y="2362199"/>
            <a:ext cx="5117392" cy="381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4AB929-69DD-FACA-21AC-58E55E1B42E7}"/>
              </a:ext>
            </a:extLst>
          </p:cNvPr>
          <p:cNvSpPr txBox="1"/>
          <p:nvPr/>
        </p:nvSpPr>
        <p:spPr>
          <a:xfrm>
            <a:off x="838200" y="1825625"/>
            <a:ext cx="52578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 err="1"/>
              <a:t>Anzahl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User YoY, Quelle: https://</a:t>
            </a:r>
            <a:r>
              <a:rPr lang="en-US" dirty="0" err="1"/>
              <a:t>github.blog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8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ED67-C72A-B0E9-4519-7042F623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Methode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27497-8213-F26E-1CDF-B9072CFF10EA}"/>
              </a:ext>
            </a:extLst>
          </p:cNvPr>
          <p:cNvSpPr/>
          <p:nvPr/>
        </p:nvSpPr>
        <p:spPr>
          <a:xfrm>
            <a:off x="2350912" y="2668593"/>
            <a:ext cx="2730790" cy="1491914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GitHub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Repository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A455B-B298-F0F1-AE34-6DF6DAA4FE91}"/>
              </a:ext>
            </a:extLst>
          </p:cNvPr>
          <p:cNvSpPr/>
          <p:nvPr/>
        </p:nvSpPr>
        <p:spPr>
          <a:xfrm>
            <a:off x="5808599" y="3082406"/>
            <a:ext cx="1054767" cy="678738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Apache</a:t>
            </a:r>
            <a:br>
              <a:rPr lang="en-US" b="1" dirty="0"/>
            </a:br>
            <a:r>
              <a:rPr lang="en-US" b="1" dirty="0"/>
              <a:t>Kafka</a:t>
            </a:r>
          </a:p>
        </p:txBody>
      </p:sp>
      <p:pic>
        <p:nvPicPr>
          <p:cNvPr id="9" name="Graphic 8" descr="Database outline">
            <a:extLst>
              <a:ext uri="{FF2B5EF4-FFF2-40B4-BE49-F238E27FC236}">
                <a16:creationId xmlns:a16="http://schemas.microsoft.com/office/drawing/2014/main" id="{6FF7C721-0CE1-D6F6-1E47-E522862A4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904" y="2883232"/>
            <a:ext cx="914400" cy="91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6C6910-F3CB-AA1B-4A94-1A3AFC2DB35E}"/>
              </a:ext>
            </a:extLst>
          </p:cNvPr>
          <p:cNvSpPr/>
          <p:nvPr/>
        </p:nvSpPr>
        <p:spPr>
          <a:xfrm>
            <a:off x="7075927" y="2488071"/>
            <a:ext cx="1861012" cy="44307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(Timeseries) DB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32D96A-D8BC-F64E-A31B-955BEAD88DF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081702" y="3421775"/>
            <a:ext cx="726897" cy="0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5FFB77-B2D6-28B0-2C90-517814E42FE4}"/>
              </a:ext>
            </a:extLst>
          </p:cNvPr>
          <p:cNvCxnSpPr>
            <a:cxnSpLocks/>
          </p:cNvCxnSpPr>
          <p:nvPr/>
        </p:nvCxnSpPr>
        <p:spPr>
          <a:xfrm>
            <a:off x="6863366" y="3421775"/>
            <a:ext cx="765112" cy="0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72DA1E-0637-07C9-CD9A-70BB7D07D7EB}"/>
              </a:ext>
            </a:extLst>
          </p:cNvPr>
          <p:cNvCxnSpPr>
            <a:cxnSpLocks/>
          </p:cNvCxnSpPr>
          <p:nvPr/>
        </p:nvCxnSpPr>
        <p:spPr>
          <a:xfrm flipV="1">
            <a:off x="8175801" y="3421775"/>
            <a:ext cx="6131850" cy="7225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4904D-5BA5-B846-22A4-DE5C7B900425}"/>
              </a:ext>
            </a:extLst>
          </p:cNvPr>
          <p:cNvSpPr/>
          <p:nvPr/>
        </p:nvSpPr>
        <p:spPr>
          <a:xfrm>
            <a:off x="2350911" y="4499876"/>
            <a:ext cx="2730791" cy="1491914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Mögliche</a:t>
            </a:r>
            <a:r>
              <a:rPr lang="en-US" b="1" dirty="0"/>
              <a:t> </a:t>
            </a:r>
            <a:r>
              <a:rPr lang="en-US" b="1" dirty="0" err="1"/>
              <a:t>Erweiterungen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Websiten</a:t>
            </a:r>
            <a:r>
              <a:rPr lang="en-US" dirty="0"/>
              <a:t> </a:t>
            </a:r>
            <a:r>
              <a:rPr lang="en-US" dirty="0" err="1"/>
              <a:t>Scrapen</a:t>
            </a:r>
            <a:endParaRPr lang="en-US" dirty="0"/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F410ABDF-DFB2-24E4-E74B-12C0DFA27B5E}"/>
              </a:ext>
            </a:extLst>
          </p:cNvPr>
          <p:cNvCxnSpPr>
            <a:cxnSpLocks/>
            <a:stCxn id="23" idx="3"/>
            <a:endCxn id="7" idx="2"/>
          </p:cNvCxnSpPr>
          <p:nvPr/>
        </p:nvCxnSpPr>
        <p:spPr>
          <a:xfrm flipV="1">
            <a:off x="5081702" y="3761144"/>
            <a:ext cx="1254281" cy="1484689"/>
          </a:xfrm>
          <a:prstGeom prst="curvedConnector2">
            <a:avLst/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14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1B98-34E1-4D8D-51F5-E48AB25A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Ziel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5F410A-888C-7FA1-2C7C-A8C390477CD8}"/>
              </a:ext>
            </a:extLst>
          </p:cNvPr>
          <p:cNvCxnSpPr>
            <a:cxnSpLocks/>
          </p:cNvCxnSpPr>
          <p:nvPr/>
        </p:nvCxnSpPr>
        <p:spPr>
          <a:xfrm flipV="1">
            <a:off x="-4692888" y="3436225"/>
            <a:ext cx="6131850" cy="7225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9EE13D20-9656-DBCD-71ED-8EA88F5698A0}"/>
              </a:ext>
            </a:extLst>
          </p:cNvPr>
          <p:cNvCxnSpPr>
            <a:cxnSpLocks/>
          </p:cNvCxnSpPr>
          <p:nvPr/>
        </p:nvCxnSpPr>
        <p:spPr>
          <a:xfrm>
            <a:off x="1438962" y="3436225"/>
            <a:ext cx="1748375" cy="1579912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74D760-7ADB-4C66-2DBC-A78EEB950FF2}"/>
              </a:ext>
            </a:extLst>
          </p:cNvPr>
          <p:cNvCxnSpPr>
            <a:cxnSpLocks/>
          </p:cNvCxnSpPr>
          <p:nvPr/>
        </p:nvCxnSpPr>
        <p:spPr>
          <a:xfrm>
            <a:off x="1438962" y="3436225"/>
            <a:ext cx="1748375" cy="0"/>
          </a:xfrm>
          <a:prstGeom prst="straightConnector1">
            <a:avLst/>
          </a:prstGeom>
          <a:ln w="25400" cap="flat">
            <a:solidFill>
              <a:schemeClr val="dk1"/>
            </a:solidFill>
            <a:miter lim="800000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17E0E0C-8145-1564-D583-00F05F9F3436}"/>
              </a:ext>
            </a:extLst>
          </p:cNvPr>
          <p:cNvSpPr/>
          <p:nvPr/>
        </p:nvSpPr>
        <p:spPr>
          <a:xfrm>
            <a:off x="3187337" y="2055001"/>
            <a:ext cx="4383475" cy="2171180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Primärziel</a:t>
            </a:r>
            <a:r>
              <a:rPr lang="en-US" b="1" dirty="0"/>
              <a:t>: </a:t>
            </a:r>
            <a:r>
              <a:rPr lang="en-US" b="1" dirty="0" err="1"/>
              <a:t>Analyse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Bot- &amp; </a:t>
            </a:r>
            <a:r>
              <a:rPr lang="en-US" dirty="0" err="1"/>
              <a:t>Noisedetection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Frühes</a:t>
            </a:r>
            <a:r>
              <a:rPr lang="en-US" dirty="0"/>
              <a:t> </a:t>
            </a:r>
            <a:r>
              <a:rPr lang="en-US" dirty="0" err="1"/>
              <a:t>Identifizieren</a:t>
            </a:r>
            <a:r>
              <a:rPr lang="en-US" dirty="0"/>
              <a:t> von Rising Stars &amp; </a:t>
            </a:r>
            <a:r>
              <a:rPr lang="en-US" dirty="0" err="1"/>
              <a:t>Projekten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Momentum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Visualisierungen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Filtermöglichkeiten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594D7-98CC-F2E8-CFB1-C425D5F3B258}"/>
              </a:ext>
            </a:extLst>
          </p:cNvPr>
          <p:cNvSpPr/>
          <p:nvPr/>
        </p:nvSpPr>
        <p:spPr>
          <a:xfrm>
            <a:off x="3187336" y="4590494"/>
            <a:ext cx="4383475" cy="1381220"/>
          </a:xfrm>
          <a:prstGeom prst="rect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 err="1"/>
              <a:t>Mögliche</a:t>
            </a:r>
            <a:r>
              <a:rPr lang="en-US" b="1" dirty="0"/>
              <a:t> </a:t>
            </a:r>
            <a:r>
              <a:rPr lang="en-US" b="1" dirty="0" err="1"/>
              <a:t>Erweiterungen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 </a:t>
            </a:r>
            <a:r>
              <a:rPr lang="en-US" dirty="0" err="1"/>
              <a:t>entsteht</a:t>
            </a:r>
            <a:r>
              <a:rPr lang="en-US" dirty="0"/>
              <a:t>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”Outside-Tech-Bubble-View”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F35F6-5400-9E8D-FFA2-6F95550E07B0}"/>
              </a:ext>
            </a:extLst>
          </p:cNvPr>
          <p:cNvSpPr/>
          <p:nvPr/>
        </p:nvSpPr>
        <p:spPr>
          <a:xfrm>
            <a:off x="7962910" y="2055001"/>
            <a:ext cx="2790128" cy="2171180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Rate Limiting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Volume &amp;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Noise</a:t>
            </a:r>
          </a:p>
        </p:txBody>
      </p:sp>
    </p:spTree>
    <p:extLst>
      <p:ext uri="{BB962C8B-B14F-4D97-AF65-F5344CB8AC3E}">
        <p14:creationId xmlns:p14="http://schemas.microsoft.com/office/powerpoint/2010/main" val="245532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117</Words>
  <Application>Microsoft Macintosh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Big Data Project Research Proposal</vt:lpstr>
      <vt:lpstr>1. Kontext &amp; Problem</vt:lpstr>
      <vt:lpstr>2. Methode</vt:lpstr>
      <vt:lpstr>3. Ziel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Bratschi</dc:creator>
  <cp:lastModifiedBy>Jonas Bratschi</cp:lastModifiedBy>
  <cp:revision>2</cp:revision>
  <dcterms:created xsi:type="dcterms:W3CDTF">2026-03-03T18:41:46Z</dcterms:created>
  <dcterms:modified xsi:type="dcterms:W3CDTF">2026-03-03T19:28:45Z</dcterms:modified>
</cp:coreProperties>
</file>